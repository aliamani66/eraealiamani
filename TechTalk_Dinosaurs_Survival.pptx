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 — پرده اول: افتتاحیه، استعاره دایناسورها و دوقلوهای ترس</a:t>
            </a:r>
          </a:p>
          <a:p/>
          <a:p>
            <a:r>
              <a:t>📌 راهنمای استیج: ورود آرام به وسط سن، لبخند، مکث ۲ ثانیه‌ای، نگاه متمرکز به جمعیت و شروع گرم و بدون تکلف.</a:t>
            </a:r>
          </a:p>
          <a:p/>
          <a:p>
            <a:r>
              <a:t>🎙️ نکات کلیدی گفتار:</a:t>
            </a:r>
          </a:p>
          <a:p>
            <a:r>
              <a:t>- ۶۶ میلیون سال پیش و بزرگ‌ترین درس بقا روی زمین.</a:t>
            </a:r>
          </a:p>
          <a:p>
            <a:r>
              <a:t>- تعریف دایناسور بودن در دنیای مهندسی: ۵ تا ۱۰ سال تسلط بر یک ابزار، کشیدن دیوار بتنی دور کدها و ساختن حاشیه امن کاذب («قلقش فقط دست خودمه»).</a:t>
            </a:r>
          </a:p>
          <a:p>
            <a:r>
              <a:t>- قانون بقا: انقراض غول‌های صلب و مغرور، و بقای پستانداران کوچک، چابک و تطبیق‌پذیر.</a:t>
            </a:r>
          </a:p>
          <a:p>
            <a:r>
              <a:t>- معرفی «دوقلوهای ترس» در طول ۱۶ سال مسیر حرفه‌ای:</a:t>
            </a:r>
          </a:p>
          <a:p>
            <a:r>
              <a:t>  ۱. قل اول: ترس از اشتباه کردن و ضایع شدن (Fear of Incompetence)</a:t>
            </a:r>
          </a:p>
          <a:p>
            <a:r>
              <a:t>  ۲. قل دوم: ترس از حذف شدن و بی‌مصرف شدن (Fear of Irrelevance)</a:t>
            </a:r>
          </a:p>
          <a:p>
            <a:r>
              <a:t>- دعوت مخاطب به دیدن نقشه راه ۱۶ ساله...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۲ — نقشه راه ۱۶ ساله: از دایناسور جاوا تا زیست‌بوم هوش مصنوعی (۱۳۸۸ تا ۱۴۰۳)</a:t>
            </a:r>
          </a:p>
          <a:p/>
          <a:p>
            <a:r>
              <a:t>📌 راهنمای استیج: ایستادن در سمت چپ سن، اشاره دست به امتداد جاده نوری، ایجاد حس یک سفر پرماجرا.</a:t>
            </a:r>
          </a:p>
          <a:p/>
          <a:p>
            <a:r>
              <a:t>🎙️ نکات کلیدی گفتار:</a:t>
            </a:r>
          </a:p>
          <a:p>
            <a:r>
              <a:t>- این بزرگراه ۱۶ ساله، نقشه راه عبور من از این دو ترس در دنیای واقعی مهندسی است.</a:t>
            </a:r>
          </a:p>
          <a:p>
            <a:r>
              <a:t>- ۷ ایستگاه کلیدی و ۷ پوست‌اندازی بزرگ:</a:t>
            </a:r>
          </a:p>
          <a:p>
            <a:r>
              <a:t>  • ۱۳۸۸: دژ جاوا و برنامه‌نویسی ناب</a:t>
            </a:r>
          </a:p>
          <a:p>
            <a:r>
              <a:t>  • ۱۳۹۴: تابوشکنی و جهش جسورانه به دنیای عملیات</a:t>
            </a:r>
          </a:p>
          <a:p>
            <a:r>
              <a:t>  • ۱۳۹۶: میدان جنگ ابزارها، حلقه For و ضرورت Jenkins</a:t>
            </a:r>
          </a:p>
          <a:p>
            <a:r>
              <a:t>  • ۱۳۹۷: تجمیع داده‌ها و لاگ‌ها در پلتفرم ELK</a:t>
            </a:r>
          </a:p>
          <a:p>
            <a:r>
              <a:t>  • ۱۳۹۸: تشکیل تیم R&amp;D و قانون طلایی «بساز و رها کن»</a:t>
            </a:r>
          </a:p>
          <a:p>
            <a:r>
              <a:t>  • ۱۴۰۰: نقطه اوج و بحران ساعت ۶ صبح بانک در کوبرنتیز</a:t>
            </a:r>
          </a:p>
          <a:p>
            <a:r>
              <a:t>  • ۱۴۰۳+: شهاب‌سنگ AI و پلتفرم خودکارسازی هوشمند ISR</a:t>
            </a:r>
          </a:p>
          <a:p>
            <a:r>
              <a:t>- تعامل با ارائه: کلیک روی هر ایستگاه برای ورود به سال مربوطه.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۳ — پرده دوم (۱۳۸۸ تا ۱۳۹۴): امپراتوری جاوا و ورود به دنیای عملیات</a:t>
            </a:r>
          </a:p>
          <a:p/>
          <a:p>
            <a:r>
              <a:t>📌 راهنمای استیج: حرکت به سمت راست سن، لحن صمیمی و نوستالژیک با طنز خودزنی مهندسی.</a:t>
            </a:r>
          </a:p>
          <a:p/>
          <a:p>
            <a:r>
              <a:t>🎙️ نکات کلیدی گفتار:</a:t>
            </a:r>
          </a:p>
          <a:p>
            <a:r>
              <a:t>- ۶ سال برنامه‌نویسی ناب و خالص جاوا از سال ۸۸ تا ۹۴ در اوج حاشیه امن.</a:t>
            </a:r>
          </a:p>
          <a:p>
            <a:r>
              <a:t>- سال ۹۴ و تصمیم به رفتن به عملیات (برچسب افت کلاس و خودکشی شغلی در نگاه برنامه‌نویس‌های آن زمان).</a:t>
            </a:r>
          </a:p>
          <a:p>
            <a:r>
              <a:t>- بیدار شدن دوقلوهای ترس: ترس از دستور اشتباه در پروداکشن زنده + ترس از نابودی هویت دولوپری.</a:t>
            </a:r>
          </a:p>
          <a:p>
            <a:r>
              <a:t>- ورود به عملیات با ذهن و سلاح یک برنامه‌نویس.</a:t>
            </a:r>
          </a:p>
          <a:p>
            <a:r>
              <a:t>- ایده آقای شریفی (Query Executor) و توسعه قابلیت SSH و لایو تیل (Live Tail) لاگ‌ها با جاوا توسط علی؛ جمع شدن صف پشت در عملیات.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۴ — پرده سوم (۱۳۹۵): وب‌لاجیک (WebLogic) در اسکیل Enterprise و ماژول Authenticator</a:t>
            </a:r>
          </a:p>
          <a:p/>
          <a:p>
            <a:r>
              <a:t>📌 راهنمای استیج: قدم زدن روی سن، روایت پرانرژی میدان جنگ ابزارها.</a:t>
            </a:r>
          </a:p>
          <a:p/>
          <a:p>
            <a:r>
              <a:t>🎙️ نکات کلیدی گفتار:</a:t>
            </a:r>
          </a:p>
          <a:p>
            <a:r>
              <a:t>- سال ۱۳۹۵: نیاز به مهاجرت از تام‌کت به وب‌لاجیک برای پایداری و High Availability واقعی در اسکیل بانکی.</a:t>
            </a:r>
          </a:p>
          <a:p>
            <a:r>
              <a:t>- مقاومت تیم تولید: «وب‌لاجیک سخته و ناشناخته است، ما دست نمی‌زنیم!»</a:t>
            </a:r>
          </a:p>
          <a:p>
            <a:r>
              <a:t>- خواندن ۲ الی ۳ هزار صفحه داکیومنت سنگین انگلیسی وب‌لاجیک با زبان ضعیف و دیکشنری.</a:t>
            </a:r>
          </a:p>
          <a:p>
            <a:r>
              <a:t>- نوشتن ماژول احراز هویت اختصاصی وب‌لاجیک و بالا آمدن سیستم.</a:t>
            </a:r>
          </a:p>
          <a:p>
            <a:r>
              <a:t>- درس بزرگ: بعدها با آمدن Cloud-Native فهمیدیم حتی وب‌لاجیک با آن عظمت هم دائمی نیست و باید رها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۵ — پرده سوم (۱۳۹۶): حلقه For مرگبار و ضرورت اتوماسیون با Jenkins</a:t>
            </a:r>
          </a:p>
          <a:p/>
          <a:p>
            <a:r>
              <a:t>📌 راهنمای استیج: لبخند و لحن طنزآمیز، همراه کردن تماشاگران با استرس‌های واقعی پروداکشن.</a:t>
            </a:r>
          </a:p>
          <a:p/>
          <a:p>
            <a:r>
              <a:t>🎙️ نکات کلیدی گفتار:</a:t>
            </a:r>
          </a:p>
          <a:p>
            <a:r>
              <a:t>- سال ۱۳۹۶: مهاجرت از NFS به کپی مستقیم با اسکریپت و حلقه for روی لیست IP سرورها.</a:t>
            </a:r>
          </a:p>
          <a:p>
            <a:r>
              <a:t>- فاجعه ارسال اشتباهی دستور shutdown داخل حلقه for و خاموش شدن یکی‌یکی سرورهای دیتاسنتر!</a:t>
            </a:r>
          </a:p>
          <a:p>
            <a:r>
              <a:t>- ضرورت اتوماسیون با Git و Jenkins و مقاومت شدید همکاران از ترس بیکار شدن و حذف شدن.</a:t>
            </a:r>
          </a:p>
          <a:p>
            <a:r>
              <a:t>- نوشتن فریم‌ورک اتوماسیون با زبان Groovy در جنکینز برای راحت کردن کار بچه‌ها، نه گرفتن جای آن‌ها.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۶ — پرده سوم (۱۳۹۷): نجات از جزیره‌های لاگ و مهاجرت به ELK</a:t>
            </a:r>
          </a:p>
          <a:p/>
          <a:p>
            <a:r>
              <a:t>📌 راهنمای استیج: لحن رو به جلو، نشان دادن غلبه بر هرج‌ومرج داده‌ها.</a:t>
            </a:r>
          </a:p>
          <a:p/>
          <a:p>
            <a:r>
              <a:t>🎙️ نکات کلیدی گفتار:</a:t>
            </a:r>
          </a:p>
          <a:p>
            <a:r>
              <a:t>- سال ۱۳۹۷: پایان دوران SSH زدن دستی به ۲۰ سرور مختلف برای پیدا کردن یک خطا.</a:t>
            </a:r>
          </a:p>
          <a:p>
            <a:r>
              <a:t>- نوشتن کانفیگ پیچیده ۵۰۰-۶۰۰ خطی Filebeat برای هدایت متمرکز تمام لاگ‌ها به ELK.</a:t>
            </a:r>
          </a:p>
          <a:p>
            <a:r>
              <a:t>- نفس کشیدن سرورها و شکل‌گیری نیاز به یک تحول عمیق‌تر در ساختار سازمان.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۷ — پرده چهارم (۱۳۹۸ تا ۱۴۰۰): تیم تحقیق و توسعه (R&amp;D Ops) و قانون طلایی «رها کردن»</a:t>
            </a:r>
          </a:p>
          <a:p/>
          <a:p>
            <a:r>
              <a:t>📌 راهنمای استیج: ایستادن در مرکز سن، لحن مقتدر در بیان اصول سازمانی، سپس لحن صمیمی و صادقانه در روایت ترس درونی.</a:t>
            </a:r>
          </a:p>
          <a:p/>
          <a:p>
            <a:r>
              <a:t>🎙️ نکات کلیدی گفتار:</a:t>
            </a:r>
          </a:p>
          <a:p>
            <a:r>
              <a:t>- سال ۱۳۹۸ و ابتکار آقای شریفی: تشکیل «تیم تولیدِ عملیات» (۴ برنامه‌نویس باسابقه + ۱ مهندس دوآپس) و تکامل به R&amp;D Ops.</a:t>
            </a:r>
          </a:p>
          <a:p>
            <a:r>
              <a:t>- چرخه ۵ مرحله‌ای: ۱. تحلیل نیاز و فیدبک ۲. تحقیق و POC ۳. مستندسازی ۴. آماده‌سازی پروداکشن ۵. آموزش و تحویل قطعی به عملیات.</a:t>
            </a:r>
          </a:p>
          <a:p>
            <a:r>
              <a:t>- قانون طلایی سازمان: «حق ندارید هیچ سرویسی که بالا می‌آورید رو خودتون نگه دارید! بسازید، تحویل بدید و رها کنید!» (تفکیک کیفیت از مالکیت).</a:t>
            </a:r>
          </a:p>
          <a:p>
            <a:r>
              <a:t>- سال ۱۳۹۹ و مواجهه با قل دوم ترس: دیدن همکار جوانی که پایپ‌لاین‌های من رو سریع‌تر بازنویسی می‌کرد؛ غلبه بر وسوسه انحصارطلبی و رفتن سراغ ساخت ابزار توپولوژی خودکار میکروسرویس‌ها.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۸ — پرده پنجم (سال ۱۴۰۰ - نقطه اوج): ساعت ۰۶:۰۰ صبح بانک و امتحان نهایی</a:t>
            </a:r>
          </a:p>
          <a:p/>
          <a:p>
            <a:r>
              <a:t>📌 راهنمای استیج: ضربان صدا بالا، ایجاد حس تعلیق و هیجان در سالن.</a:t>
            </a:r>
          </a:p>
          <a:p/>
          <a:p>
            <a:r>
              <a:t>🎙️ نکات کلیدی گفتار:</a:t>
            </a:r>
          </a:p>
          <a:p>
            <a:r>
              <a:t>- سال ۱۴۰۰: ۳ سال برنامه‌ریزی محتاطانه برای مهاجرت به کوبرنتیز، اما وقوع اینسیدنت فاجعه‌بار و خوابیدن زیرساخت سنتی.</a:t>
            </a:r>
          </a:p>
          <a:p>
            <a:r>
              <a:t>- فشرده شدن پروژه ۳ ساله در ۳ شبانه‌روز بی‌خوابی مطلق و مهاجرت بیگ‌بنگ Core بانک به کوبرنتیز.</a:t>
            </a:r>
          </a:p>
          <a:p>
            <a:r>
              <a:t>- ساعت ۶:۱۵ صبح، لرزش دست روی کیبورد قبل از باز شدن شعب بانک و هجوم دوباره دوقلوهای ترس.</a:t>
            </a:r>
          </a:p>
          <a:p>
            <a:r>
              <a:t>- غلبه بر فلج ذهنی با تمرکز روی لاگ‌ها و قدم‌های کوچک؛ ساعت ۶:۳۰ صبح، سبز ماندن لاگ‌ها و نجات سیستم!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۹ — پرده ششم (۱۴۰۳ و آینده): پلتفرم خودکارسازی هوشمند عملیات (Autonomous ISR Platform)</a:t>
            </a:r>
          </a:p>
          <a:p/>
          <a:p>
            <a:r>
              <a:t>📌 راهنمای استیج: نشان دادن جهش تکنولوژی امروز، انتقال حس سرعت و هوشمندی.</a:t>
            </a:r>
          </a:p>
          <a:p/>
          <a:p>
            <a:r>
              <a:t>🎙️ نکات کلیدی گفتار:</a:t>
            </a:r>
          </a:p>
          <a:p>
            <a:r>
              <a:t>- رسیدن به زمان حال (۱۴۰۳): توسعه پلتفرم هوشمند ISR در تیم تحقیق و توسعه.</a:t>
            </a:r>
          </a:p>
          <a:p>
            <a:r>
              <a:t>- ارکستراسیون فرآیندها با n8n، تریگر خودکار جاب‌های Jenkins، تگ زدن اتوماتیک ورژن‌های Git و تحلیل لاگ‌ها و Auto-Remediation با ایجنت‌های هوش مصنوعی.</a:t>
            </a:r>
          </a:p>
          <a:p>
            <a:r>
              <a:t>- انجام کارهایی که روزی ساعت‌ها جلسه و شیفت شبانه می‌طلبید، در چند ثانیه.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۱۰ — پرده ششم (ادامه): شهاب‌سنگ هوش مصنوعی (AI) و دوراهی سرنوشت‌ساز بقا</a:t>
            </a:r>
          </a:p>
          <a:p/>
          <a:p>
            <a:r>
              <a:t>📌 راهنمای استیج: اشاره مستقیم به تصویر شهاب‌سنگ و تقابل دو گروه، برانگیختن همذات‌پنداری عمیق در سالن.</a:t>
            </a:r>
          </a:p>
          <a:p/>
          <a:p>
            <a:r>
              <a:t>🎙️ نکات کلیدی گفتار:</a:t>
            </a:r>
          </a:p>
          <a:p>
            <a:r>
              <a:t>- بیدار شدن همگانی دوقلوهای ترس: امروز همه ما (از جونیور تا سینیور) پشت ChatGPT و Cursor دلمان لرزیده.</a:t>
            </a:r>
          </a:p>
          <a:p>
            <a:r>
              <a:t>- تقابل دو رویکرد در تصویر:</a:t>
            </a:r>
          </a:p>
          <a:p>
            <a:r>
              <a:t>  • سمت چپ (دایناسورها): سنگر گرفتن در قلعه قدیمی و بغل کردن سرورها و کابل‌های سنتی از ترس تغییر.</a:t>
            </a:r>
          </a:p>
          <a:p>
            <a:r>
              <a:t>  • سمت راست (پستانداران تطبیق‌پذیر): رفتن به استقبال تغییر با آغوش باز و یادگیری مداوم.</a:t>
            </a:r>
          </a:p>
          <a:p>
            <a:r>
              <a:t>- ماشین کد می‌زند و پایپ‌لاین ران می‌کند، اما هرگز نمی‌تواند «شجاعت» داشته باشد و پوست بیندازد.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۱۱ — پایان: پیام طلایی بقا — دایناسور نباشید؛ پوست بیندازید و زنده بمانید</a:t>
            </a:r>
          </a:p>
          <a:p/>
          <a:p>
            <a:r>
              <a:t>📌 راهنمای استیج: ایستادن در مرکز سن، لحن الهام‌بخش و مقتدر.</a:t>
            </a:r>
          </a:p>
          <a:p/>
          <a:p>
            <a:r>
              <a:t>🎙️ نکات کلیدی گفتار:</a:t>
            </a:r>
          </a:p>
          <a:p>
            <a:r>
              <a:t>- از دوقلوهای ترس فرار نکنید؛ آن‌ها نشانه این هستند که در لبه رشدتان ایستاده‌اید.</a:t>
            </a:r>
          </a:p>
          <a:p>
            <a:r>
              <a:t>- دست ترس‌هایتان را بگیرید و با هم بپرید وسط دنیای جدید.</a:t>
            </a:r>
          </a:p>
          <a:p/>
          <a:p>
            <a:r>
              <a:t>جمله طلایی پایانی:</a:t>
            </a:r>
          </a:p>
          <a:p>
            <a:r>
              <a:t>«دایناسور نباشید؛ تغییر کنید، پوست بیندازید و زنده بمانید.»</a:t>
            </a:r>
          </a:p>
          <a:p/>
          <a:p>
            <a:r>
              <a:t>*(سکوت ۳ ثانیه‌ای — نگاه مستقیم به سالن)*</a:t>
            </a:r>
          </a:p>
          <a:p>
            <a:r>
              <a:t>خیلی ممنونم از همگی.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Relationship Id="rId4" Type="http://schemas.openxmlformats.org/officeDocument/2006/relationships/slide" Target="slide2.xml"/><Relationship Id="rId5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Relationship Id="rId4" Type="http://schemas.openxmlformats.org/officeDocument/2006/relationships/slide" Target="slide2.xml"/><Relationship Id="rId5" Type="http://schemas.openxmlformats.org/officeDocument/2006/relationships/slide" Target="slide7.xml"/><Relationship Id="rId6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Relationship Id="rId4" Type="http://schemas.openxmlformats.org/officeDocument/2006/relationships/slide" Target="slide2.xml"/><Relationship Id="rId5" Type="http://schemas.openxmlformats.org/officeDocument/2006/relationships/slide" Target="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eer_roadmap_high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354409" y="2500312"/>
            <a:ext cx="1550542" cy="4286250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904952" y="1964531"/>
            <a:ext cx="1196132" cy="3929062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3101085" y="1785937"/>
            <a:ext cx="1329036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430121" y="1696640"/>
            <a:ext cx="1727747" cy="3482578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6202170" y="1607343"/>
            <a:ext cx="2082157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8328628" y="1518046"/>
            <a:ext cx="1639145" cy="3393281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10012075" y="1339453"/>
            <a:ext cx="1594843" cy="3303984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>
            <a:hlinkClick action="ppaction://hlinksldjump" r:id="rId11"/>
          </p:cNvPr>
          <p:cNvSpPr/>
          <p:nvPr/>
        </p:nvSpPr>
        <p:spPr>
          <a:xfrm>
            <a:off x="457200" y="320040"/>
            <a:ext cx="3108960" cy="475488"/>
          </a:xfrm>
          <a:prstGeom prst="roundRect">
            <a:avLst/>
          </a:prstGeom>
          <a:solidFill>
            <a:srgbClr val="1A1025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50" b="1">
                <a:solidFill>
                  <a:srgbClr val="FFFFFF"/>
                </a:solidFill>
                <a:latin typeface="Vazirmatn"/>
              </a:defRPr>
            </a:pPr>
            <a:r>
              <a:t>☄️ ورود مستقیم به پرده پایانی (AI) 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6263640"/>
            <a:ext cx="5212080" cy="411480"/>
          </a:xfrm>
          <a:prstGeom prst="roundRect">
            <a:avLst/>
          </a:prstGeom>
          <a:solidFill>
            <a:srgbClr val="0A0F1C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0">
                <a:solidFill>
                  <a:srgbClr val="94A3B8"/>
                </a:solidFill>
                <a:latin typeface="Vazirmatn"/>
              </a:defRPr>
            </a:pPr>
            <a:r>
              <a:t>🖱️ برای ورود به هر دوره شغلی، روی ایستگاه مورد نظر در بزرگراه کلیک کنید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۱ (۱۳۸۸): امپراتوری جاوا و ورود به دنیای عملیات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۲ (۱۳۹۵): وب‌لاجیک انترپرایز و ماژول اختصاصی Authenticator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۳ (۱۳۹۶): فاجعه حلقه For و ضرورت اتوماسیون با Jenkins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۴ (۱۳۹۷): نجات از جزیره‌های لاگ و مهاجرت به پلتفرم متمرکز ELK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۵ (۱۳۹۸): تیم R&amp;D Ops و فرهنگ طلایی «بساز، تحویل بده و رها کن»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۶ (۱۴۰۰): نقطه اوج — ساعت ۰۶:۰۰ صبح بانک و امتحان نهایی در کوبرنتیز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۷ (۱۴۰۳+): پلتفرم خودکارسازی هوشمند ISR و دستیاران هوش مصنوعی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83464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☄️ پرده پایانی: شهاب‌سنگ AI ◀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☄️ پرده پایانی: شهاب‌سنگ هوش مصنوعی (AI) و دوراهی سرنوشت‌ساز بقا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83464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🌍 پیام پایانی بقا ◀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🌍 جمع‌بندی: پیام طلایی بقا — دایناسور نباشید؛ تغییر کنید و زنده بمانید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